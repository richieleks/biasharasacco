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71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0" y="308595"/>
            <a:ext cx="257175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772" y="334789"/>
            <a:ext cx="17859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556177" y="334789"/>
            <a:ext cx="20383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SHOWCASE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7688" y="1097235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COMPLETE SACCO PLATFORM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7688" y="1457027"/>
            <a:ext cx="8048625" cy="21193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64"/>
              </a:lnSpc>
              <a:spcBef>
                <a:spcPts val="1215"/>
              </a:spcBef>
              <a:buNone/>
            </a:pPr>
            <a:r>
              <a:rPr lang="en-US" sz="6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the whole</a:t>
            </a:r>
            <a:pPr algn="l" indent="0" marL="0">
              <a:lnSpc>
                <a:spcPts val="5564"/>
              </a:lnSpc>
              <a:buNone/>
            </a:pPr>
            <a:r>
              <a:rPr lang="en-US" sz="6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co‑operative</a:t>
            </a:r>
            <a:pPr algn="l" indent="0" marL="0">
              <a:lnSpc>
                <a:spcPts val="5564"/>
              </a:lnSpc>
              <a:buNone/>
            </a:pPr>
            <a:r>
              <a:rPr lang="en-US" sz="6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one place.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548580" y="3781425"/>
            <a:ext cx="5029200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3"/>
              </a:lnSpc>
              <a:spcBef>
                <a:spcPts val="1620"/>
              </a:spcBef>
              <a:buNone/>
            </a:pPr>
            <a:r>
              <a:rPr lang="en-US" sz="1200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Members, savings, loans, guarantors, transactions, share capital, reports and access control — every module, one system, built for SACCOs.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 · CREDIT · REPORTS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8203" y="617637"/>
            <a:ext cx="189071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IS BIASHARA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134" y="925785"/>
            <a:ext cx="4938712" cy="1876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SACCO management system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designed for daily operations.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134" y="2828032"/>
            <a:ext cx="4938712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2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replaces the patchwork of spreadsheets, paper files and stand-alone apps that most SACCOs juggle. Every member, every shilling and every decision lives in a single, role-aware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4162" y="926604"/>
            <a:ext cx="2562225" cy="933450"/>
          </a:xfrm>
          <a:prstGeom prst="roundRect">
            <a:avLst>
              <a:gd name="adj" fmla="val 6477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1793" y="1023565"/>
            <a:ext cx="236696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31793" y="1258639"/>
            <a:ext cx="236696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43"/>
              </a:spcBef>
              <a:buNone/>
            </a:pPr>
            <a:r>
              <a:rPr lang="en-US" sz="2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131793" y="1574006"/>
            <a:ext cx="236696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in the Biashara workspace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4162" y="2121173"/>
            <a:ext cx="2562225" cy="1123950"/>
          </a:xfrm>
          <a:prstGeom prst="roundRect">
            <a:avLst>
              <a:gd name="adj" fmla="val 4468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1793" y="2219102"/>
            <a:ext cx="236696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31793" y="2454176"/>
            <a:ext cx="236696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43"/>
              </a:spcBef>
              <a:buNone/>
            </a:pPr>
            <a:r>
              <a:rPr lang="en-US" sz="2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UGX 899M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131793" y="2770956"/>
            <a:ext cx="236696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the books across member accounts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4162" y="3505274"/>
            <a:ext cx="2562225" cy="1123950"/>
          </a:xfrm>
          <a:prstGeom prst="roundRect">
            <a:avLst>
              <a:gd name="adj" fmla="val 4468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1793" y="3603203"/>
            <a:ext cx="236696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LEDGER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31793" y="3838277"/>
            <a:ext cx="236696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43"/>
              </a:spcBef>
              <a:buNone/>
            </a:pPr>
            <a:r>
              <a:rPr lang="en-US" sz="2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131793" y="4155058"/>
            <a:ext cx="236696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chart-of-accounts entries, double-entry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OVERVIEW · LIVE BIASHARA SACCO TENANT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PLATFORM. TEN MODULES.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60524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6603" y="514796"/>
            <a:ext cx="12954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55" y="823094"/>
            <a:ext cx="5486400" cy="833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3"/>
              </a:lnSpc>
              <a:spcBef>
                <a:spcPts val="810"/>
              </a:spcBef>
              <a:buNone/>
            </a:pPr>
            <a:r>
              <a:rPr lang="en-US" sz="34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Ten modules. </a:t>
            </a:r>
            <a:pPr algn="l" indent="0" marL="0">
              <a:lnSpc>
                <a:spcPts val="3283"/>
              </a:lnSpc>
              <a:buNone/>
            </a:pPr>
            <a:r>
              <a:rPr lang="en-US" sz="34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workflow.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4162" y="1038634"/>
            <a:ext cx="2562225" cy="619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tile maps to a section of the app, accessible to the right people through fine-grained roles and permissions.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7390" y="2159496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914" y="2257574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334" y="2308994"/>
            <a:ext cx="154260" cy="1542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5021" y="2851733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5021" y="3052986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Role-based 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78695" y="2159496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77219" y="2257574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639" y="2308994"/>
            <a:ext cx="154260" cy="1542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76326" y="2851733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276326" y="3052986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Profiles &amp; status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10000" y="2159496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908524" y="2257574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FB58D">
              <a:alpha val="14902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944" y="2308994"/>
            <a:ext cx="154260" cy="1542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07631" y="2663168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907631" y="2865834"/>
            <a:ext cx="132873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Deposits, withdrawals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41305" y="2159496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539829" y="2257574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249" y="2308994"/>
            <a:ext cx="154260" cy="1542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8936" y="2851733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38936" y="3052986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lifecycle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072610" y="2159496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71134" y="2257574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EB8D2F">
              <a:alpha val="14902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554" y="2308994"/>
            <a:ext cx="154260" cy="1542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70241" y="2851733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Guarantors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170241" y="3052986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Request &amp; approve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47390" y="3448794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5914" y="3546872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FB58D">
              <a:alpha val="14902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34" y="3598292"/>
            <a:ext cx="154260" cy="1542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45021" y="4141031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45021" y="4342284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Unified ledger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2178695" y="3448794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2277219" y="3546872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8639" y="3598292"/>
            <a:ext cx="154260" cy="1542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276326" y="4141031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 Capital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2276326" y="4342284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Equity &amp; dividends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3810000" y="3448794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3908524" y="3546872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944" y="3598292"/>
            <a:ext cx="154260" cy="15426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907631" y="4141031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Reports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3907631" y="4342284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 &amp; audits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441305" y="3448794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5539829" y="3546872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EB8D2F">
              <a:alpha val="14902"/>
            </a:srgbClr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1249" y="3598292"/>
            <a:ext cx="154260" cy="15426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538936" y="4141031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Import</a:t>
            </a:r>
            <a:endParaRPr lang="en-US" sz="1000" dirty="0"/>
          </a:p>
        </p:txBody>
      </p:sp>
      <p:sp>
        <p:nvSpPr>
          <p:cNvPr id="52" name="Text 41"/>
          <p:cNvSpPr/>
          <p:nvPr/>
        </p:nvSpPr>
        <p:spPr>
          <a:xfrm>
            <a:off x="5538936" y="4342284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Granular per type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7072610" y="3448794"/>
            <a:ext cx="1524000" cy="1181100"/>
          </a:xfrm>
          <a:prstGeom prst="roundRect">
            <a:avLst>
              <a:gd name="adj" fmla="val 337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7171134" y="3546872"/>
            <a:ext cx="257175" cy="257175"/>
          </a:xfrm>
          <a:prstGeom prst="roundRect">
            <a:avLst>
              <a:gd name="adj" fmla="val 10667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2554" y="3598292"/>
            <a:ext cx="154260" cy="15426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7170241" y="4141031"/>
            <a:ext cx="13287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Roles &amp; Access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7170241" y="4342284"/>
            <a:ext cx="1328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Fine-grained RBAC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MAP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WE’LL COVER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6528" y="617637"/>
            <a:ext cx="2514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01 ·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7464" y="926306"/>
            <a:ext cx="4262438" cy="971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spcBef>
                <a:spcPts val="810"/>
              </a:spcBef>
              <a:buNone/>
            </a:pPr>
            <a:r>
              <a:rPr lang="en-US" sz="4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numbers that</a:t>
            </a:r>
            <a:pPr algn="l" indent="0" marL="0">
              <a:lnSpc>
                <a:spcPts val="3830"/>
              </a:lnSpc>
              <a:buNone/>
            </a:pPr>
            <a:r>
              <a:rPr lang="en-US" sz="4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matter, on arrival.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875836" y="1178868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332681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716299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0" name="Text 7"/>
          <p:cNvSpPr/>
          <p:nvPr/>
        </p:nvSpPr>
        <p:spPr>
          <a:xfrm>
            <a:off x="759916" y="2674107"/>
            <a:ext cx="3719512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Role-aware home screen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9916" y="2900139"/>
            <a:ext cx="3719512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treasurer, an admin and a member each land on a different view.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441911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3" name="Text 10"/>
          <p:cNvSpPr/>
          <p:nvPr/>
        </p:nvSpPr>
        <p:spPr>
          <a:xfrm>
            <a:off x="759916" y="3399718"/>
            <a:ext cx="3719512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financial pulse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9916" y="3625751"/>
            <a:ext cx="3719512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savings, outstanding loans, share capital — refreshed in real time.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4167522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6" name="Text 13"/>
          <p:cNvSpPr/>
          <p:nvPr/>
        </p:nvSpPr>
        <p:spPr>
          <a:xfrm>
            <a:off x="759916" y="4125330"/>
            <a:ext cx="3719512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actions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9916" y="4351362"/>
            <a:ext cx="3719512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 a deposit, log a repayment or open a member file in one click.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2488" y="2675000"/>
            <a:ext cx="3933825" cy="2052637"/>
          </a:xfrm>
          <a:prstGeom prst="roundRect">
            <a:avLst>
              <a:gd name="adj" fmla="val 1563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41069" y="2751609"/>
            <a:ext cx="3776662" cy="328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0408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SCREEN · BIASHARA SACCO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371 MEMBERS · UGX 899M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41069" y="3132013"/>
            <a:ext cx="3776662" cy="1519238"/>
          </a:xfrm>
          <a:prstGeom prst="roundRect">
            <a:avLst>
              <a:gd name="adj" fmla="val 1630"/>
            </a:avLst>
          </a:prstGeom>
          <a:ln w="4763">
            <a:solidFill>
              <a:srgbClr val="000A14">
                <a:alpha val="10196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831" y="3136776"/>
            <a:ext cx="3767137" cy="15097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 · CAPTURED FROM THE RUNNING APP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HERE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6863" y="617637"/>
            <a:ext cx="22860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02 · MEMBERS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915" y="926306"/>
            <a:ext cx="5472113" cy="971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spcBef>
                <a:spcPts val="810"/>
              </a:spcBef>
              <a:buNone/>
            </a:pPr>
            <a:r>
              <a:rPr lang="en-US" sz="4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member, never</a:t>
            </a:r>
            <a:pPr algn="l" indent="0" marL="0">
              <a:lnSpc>
                <a:spcPts val="3830"/>
              </a:lnSpc>
              <a:buNone/>
            </a:pPr>
            <a:r>
              <a:rPr lang="en-US" sz="4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row in a spreadsheet.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875836" y="1178868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332681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716299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0" name="Text 7"/>
          <p:cNvSpPr/>
          <p:nvPr/>
        </p:nvSpPr>
        <p:spPr>
          <a:xfrm>
            <a:off x="759916" y="2674107"/>
            <a:ext cx="440531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Onboarding &amp; profiles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9916" y="2900139"/>
            <a:ext cx="440531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National ID, contact, department, employer — captured once, used everywhere.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441911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3" name="Text 10"/>
          <p:cNvSpPr/>
          <p:nvPr/>
        </p:nvSpPr>
        <p:spPr>
          <a:xfrm>
            <a:off x="758168" y="3399718"/>
            <a:ext cx="42291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Lifecycle status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168" y="3624337"/>
            <a:ext cx="42291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Pending, active, inactive, dormant — every state visible and filterable.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3978957"/>
            <a:ext cx="80962" cy="80962"/>
          </a:xfrm>
          <a:prstGeom prst="ellipse">
            <a:avLst/>
          </a:prstGeom>
          <a:solidFill>
            <a:srgbClr val="E88C30"/>
          </a:solidFill>
          <a:ln/>
        </p:spPr>
      </p:sp>
      <p:sp>
        <p:nvSpPr>
          <p:cNvPr id="16" name="Text 13"/>
          <p:cNvSpPr/>
          <p:nvPr/>
        </p:nvSpPr>
        <p:spPr>
          <a:xfrm>
            <a:off x="759916" y="3936764"/>
            <a:ext cx="440531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member 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9916" y="4162797"/>
            <a:ext cx="440531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 balances, active loans, guarantor links and history in one record.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9887" y="2675223"/>
            <a:ext cx="1566862" cy="876300"/>
          </a:xfrm>
          <a:prstGeom prst="roundRect">
            <a:avLst>
              <a:gd name="adj" fmla="val 6125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7519" y="2980395"/>
            <a:ext cx="1371600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47519" y="3249588"/>
            <a:ext cx="1371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members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027850" y="2675223"/>
            <a:ext cx="1566862" cy="876300"/>
          </a:xfrm>
          <a:prstGeom prst="roundRect">
            <a:avLst>
              <a:gd name="adj" fmla="val 6125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25481" y="2980395"/>
            <a:ext cx="1371600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125481" y="3249588"/>
            <a:ext cx="1371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pending approval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49887" y="3662511"/>
            <a:ext cx="1566862" cy="876300"/>
          </a:xfrm>
          <a:prstGeom prst="roundRect">
            <a:avLst>
              <a:gd name="adj" fmla="val 6125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47519" y="3967721"/>
            <a:ext cx="1371600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Inactive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47519" y="4236913"/>
            <a:ext cx="1371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recent activity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27850" y="3662511"/>
            <a:ext cx="1566862" cy="876300"/>
          </a:xfrm>
          <a:prstGeom prst="roundRect">
            <a:avLst>
              <a:gd name="adj" fmla="val 6125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25481" y="3967721"/>
            <a:ext cx="1371600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EF43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Dormant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125481" y="4236913"/>
            <a:ext cx="1371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flagged for review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 · LIVE FROM BIASHARA SACCO TENANT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 WHO YOU SERVE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EB88A"/>
          </a:solidFill>
          <a:ln/>
        </p:spPr>
      </p:sp>
      <p:sp>
        <p:nvSpPr>
          <p:cNvPr id="5" name="Text 3"/>
          <p:cNvSpPr/>
          <p:nvPr/>
        </p:nvSpPr>
        <p:spPr>
          <a:xfrm>
            <a:off x="1096417" y="617637"/>
            <a:ext cx="22050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03 · SAVINGS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134" y="926306"/>
            <a:ext cx="3462337" cy="971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spcBef>
                <a:spcPts val="810"/>
              </a:spcBef>
              <a:buNone/>
            </a:pPr>
            <a:r>
              <a:rPr lang="en-US" sz="4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shilling</a:t>
            </a:r>
            <a:pPr algn="l" indent="0" marL="0">
              <a:lnSpc>
                <a:spcPts val="3830"/>
              </a:lnSpc>
              <a:buNone/>
            </a:pPr>
            <a:r>
              <a:rPr lang="en-US" sz="4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accounted for.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875836" y="1178868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FB58D">
              <a:alpha val="14902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332681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716299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0" name="Text 7"/>
          <p:cNvSpPr/>
          <p:nvPr/>
        </p:nvSpPr>
        <p:spPr>
          <a:xfrm>
            <a:off x="758837" y="2674107"/>
            <a:ext cx="401478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Deposits &amp; withdrawals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837" y="2898725"/>
            <a:ext cx="40147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Recorded against the right account, with a clear running balance.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253346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3" name="Text 10"/>
          <p:cNvSpPr/>
          <p:nvPr/>
        </p:nvSpPr>
        <p:spPr>
          <a:xfrm>
            <a:off x="759916" y="3211153"/>
            <a:ext cx="3376612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 statements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9916" y="3435772"/>
            <a:ext cx="33766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on demand for any member, any date range.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3790392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6" name="Text 13"/>
          <p:cNvSpPr/>
          <p:nvPr/>
        </p:nvSpPr>
        <p:spPr>
          <a:xfrm>
            <a:off x="759916" y="3748199"/>
            <a:ext cx="440531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account types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9916" y="3974232"/>
            <a:ext cx="440531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 savings, fixed deposits and group accounts — each with its own rules.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8288" y="2675186"/>
            <a:ext cx="3248025" cy="1057275"/>
          </a:xfrm>
          <a:prstGeom prst="roundRect">
            <a:avLst>
              <a:gd name="adj" fmla="val 4207"/>
            </a:avLst>
          </a:prstGeom>
          <a:solidFill>
            <a:srgbClr val="F3F4F6"/>
          </a:solidFill>
          <a:ln w="4763">
            <a:solidFill>
              <a:srgbClr val="2EB98B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56634" y="2783086"/>
            <a:ext cx="13477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ON BOOK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56634" y="3214985"/>
            <a:ext cx="13477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Live, across all accounts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03082" y="2875211"/>
            <a:ext cx="1685925" cy="657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UGX 899,889,012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348288" y="3804717"/>
            <a:ext cx="3248025" cy="647700"/>
          </a:xfrm>
          <a:prstGeom prst="roundRect">
            <a:avLst>
              <a:gd name="adj" fmla="val 11211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56746" y="3913063"/>
            <a:ext cx="127158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56746" y="4139282"/>
            <a:ext cx="127158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Day-to-day deposits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16019" y="3964223"/>
            <a:ext cx="271463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348288" y="4524226"/>
            <a:ext cx="3248025" cy="852488"/>
          </a:xfrm>
          <a:prstGeom prst="roundRect">
            <a:avLst>
              <a:gd name="adj" fmla="val 6472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57379" y="4632127"/>
            <a:ext cx="242411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FIXED &amp; GROUP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57379" y="4858792"/>
            <a:ext cx="2424113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Term deposits, chama / merry-go-round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882533" y="4786126"/>
            <a:ext cx="604837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02·03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 · LIVE FROM BIASHARA SACCO TENANT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ACCOUNT TYPES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6082" y="617637"/>
            <a:ext cx="19954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04 · LOANS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9250" y="925711"/>
            <a:ext cx="4352925" cy="938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spcBef>
                <a:spcPts val="810"/>
              </a:spcBef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application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final repayment.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875836" y="1144339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298153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473" y="2571787"/>
            <a:ext cx="595313" cy="404813"/>
          </a:xfrm>
          <a:prstGeom prst="roundRect">
            <a:avLst>
              <a:gd name="adj" fmla="val 5740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4242" y="2627747"/>
            <a:ext cx="4857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04242" y="2772370"/>
            <a:ext cx="485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62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19721" y="2571787"/>
            <a:ext cx="595313" cy="404813"/>
          </a:xfrm>
          <a:prstGeom prst="roundRect">
            <a:avLst>
              <a:gd name="adj" fmla="val 5740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4490" y="2627747"/>
            <a:ext cx="4857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274490" y="2772370"/>
            <a:ext cx="485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62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Guarantee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889968" y="2571787"/>
            <a:ext cx="595313" cy="404813"/>
          </a:xfrm>
          <a:prstGeom prst="roundRect">
            <a:avLst>
              <a:gd name="adj" fmla="val 5740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44737" y="2627747"/>
            <a:ext cx="4857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944737" y="2772370"/>
            <a:ext cx="485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62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216" y="2571787"/>
            <a:ext cx="595313" cy="404813"/>
          </a:xfrm>
          <a:prstGeom prst="roundRect">
            <a:avLst>
              <a:gd name="adj" fmla="val 5740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14985" y="2627747"/>
            <a:ext cx="4857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614985" y="2772370"/>
            <a:ext cx="485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62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Disburse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30500" y="2571787"/>
            <a:ext cx="595313" cy="404813"/>
          </a:xfrm>
          <a:prstGeom prst="roundRect">
            <a:avLst>
              <a:gd name="adj" fmla="val 5740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85269" y="2627747"/>
            <a:ext cx="4857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285269" y="2772370"/>
            <a:ext cx="485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62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Repay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9362" y="3029024"/>
            <a:ext cx="3276600" cy="638175"/>
          </a:xfrm>
          <a:prstGeom prst="roundRect">
            <a:avLst>
              <a:gd name="adj" fmla="val 11548"/>
            </a:avLst>
          </a:prstGeom>
          <a:solidFill>
            <a:srgbClr val="2762D8">
              <a:alpha val="5098"/>
            </a:srgbClr>
          </a:solidFill>
          <a:ln w="4763">
            <a:solidFill>
              <a:srgbClr val="2864D7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3662" y="3093541"/>
            <a:ext cx="30480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loans, top-ups &amp; documents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3662" y="3274070"/>
            <a:ext cx="304800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spcBef>
                <a:spcPts val="162"/>
              </a:spcBef>
              <a:buNone/>
            </a:pPr>
            <a:r>
              <a:rPr lang="en-US" sz="9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with its own approval path; payslips and IDs on every file.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9362" y="3719847"/>
            <a:ext cx="3276600" cy="476250"/>
          </a:xfrm>
          <a:prstGeom prst="roundRect">
            <a:avLst>
              <a:gd name="adj" fmla="val 20736"/>
            </a:avLst>
          </a:prstGeom>
          <a:solidFill>
            <a:srgbClr val="2762D8">
              <a:alpha val="5098"/>
            </a:srgbClr>
          </a:solidFill>
          <a:ln w="4763">
            <a:solidFill>
              <a:srgbClr val="2864D7">
                <a:alpha val="2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3662" y="3785071"/>
            <a:ext cx="30480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Amortization schedules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3662" y="3967274"/>
            <a:ext cx="30480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spcBef>
                <a:spcPts val="162"/>
              </a:spcBef>
              <a:buNone/>
            </a:pPr>
            <a:r>
              <a:rPr lang="en-US" sz="9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automatically for every active loan.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9362" y="4248038"/>
            <a:ext cx="3276600" cy="476250"/>
          </a:xfrm>
          <a:prstGeom prst="roundRect">
            <a:avLst>
              <a:gd name="adj" fmla="val 20736"/>
            </a:avLst>
          </a:prstGeom>
          <a:solidFill>
            <a:srgbClr val="27B189">
              <a:alpha val="5098"/>
            </a:srgbClr>
          </a:solidFill>
          <a:ln w="4763">
            <a:solidFill>
              <a:srgbClr val="2EB98B">
                <a:alpha val="30196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3662" y="4313262"/>
            <a:ext cx="30480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tenant: 0 active loans · 100% repayment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3662" y="4495465"/>
            <a:ext cx="30480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spcBef>
                <a:spcPts val="162"/>
              </a:spcBef>
              <a:buNone/>
            </a:pPr>
            <a:r>
              <a:rPr lang="en-US" sz="9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 imported; loan book seeding next.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955703" y="2571824"/>
            <a:ext cx="4638675" cy="2152650"/>
          </a:xfrm>
          <a:prstGeom prst="roundRect">
            <a:avLst>
              <a:gd name="adj" fmla="val 1218"/>
            </a:avLst>
          </a:prstGeom>
          <a:solidFill>
            <a:srgbClr val="F3F4F6"/>
          </a:solidFill>
          <a:ln w="4763">
            <a:solidFill>
              <a:srgbClr val="000A14">
                <a:alpha val="10196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10471" y="2627188"/>
            <a:ext cx="4529138" cy="1524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408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MANAGEMENT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SCREEN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4010471" y="2820219"/>
            <a:ext cx="4529138" cy="1847850"/>
          </a:xfrm>
          <a:prstGeom prst="roundRect">
            <a:avLst>
              <a:gd name="adj" fmla="val 1102"/>
            </a:avLst>
          </a:prstGeom>
          <a:ln w="4763">
            <a:solidFill>
              <a:srgbClr val="000A14">
                <a:alpha val="10196"/>
              </a:srgbClr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234" y="2824981"/>
            <a:ext cx="4519613" cy="183832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LOANS · CAPTURED FROM THE RUNNING APP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FIVE-STEP LIFECYCLE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E88C30"/>
          </a:solidFill>
          <a:ln/>
        </p:spPr>
      </p:sp>
      <p:sp>
        <p:nvSpPr>
          <p:cNvPr id="5" name="Text 3"/>
          <p:cNvSpPr/>
          <p:nvPr/>
        </p:nvSpPr>
        <p:spPr>
          <a:xfrm>
            <a:off x="1096045" y="617637"/>
            <a:ext cx="26765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05 · GUARANTORS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506" y="925711"/>
            <a:ext cx="3557588" cy="938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spcBef>
                <a:spcPts val="810"/>
              </a:spcBef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Trust, recorded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verifiable.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875836" y="1144339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EB8D2F">
              <a:alpha val="14902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298153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716299"/>
            <a:ext cx="80962" cy="80962"/>
          </a:xfrm>
          <a:prstGeom prst="ellipse">
            <a:avLst/>
          </a:prstGeom>
          <a:solidFill>
            <a:srgbClr val="E88C30"/>
          </a:solidFill>
          <a:ln/>
        </p:spPr>
      </p:sp>
      <p:sp>
        <p:nvSpPr>
          <p:cNvPr id="10" name="Text 7"/>
          <p:cNvSpPr/>
          <p:nvPr/>
        </p:nvSpPr>
        <p:spPr>
          <a:xfrm>
            <a:off x="759916" y="2674107"/>
            <a:ext cx="440531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Request &amp; respond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9916" y="2900139"/>
            <a:ext cx="440531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Borrowers nominate guarantors; each one accepts or declines in their own dashboard.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441911"/>
            <a:ext cx="80962" cy="80962"/>
          </a:xfrm>
          <a:prstGeom prst="ellipse">
            <a:avLst/>
          </a:prstGeom>
          <a:solidFill>
            <a:srgbClr val="E88C30"/>
          </a:solidFill>
          <a:ln/>
        </p:spPr>
      </p:sp>
      <p:sp>
        <p:nvSpPr>
          <p:cNvPr id="13" name="Text 10"/>
          <p:cNvSpPr/>
          <p:nvPr/>
        </p:nvSpPr>
        <p:spPr>
          <a:xfrm>
            <a:off x="758205" y="3399718"/>
            <a:ext cx="4219575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Linked to the loan file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205" y="3624337"/>
            <a:ext cx="42195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Status, exposure and acceptance date sit alongside the loan record.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3978957"/>
            <a:ext cx="80962" cy="80962"/>
          </a:xfrm>
          <a:prstGeom prst="ellipse">
            <a:avLst/>
          </a:prstGeom>
          <a:solidFill>
            <a:srgbClr val="E88C30"/>
          </a:solidFill>
          <a:ln/>
        </p:spPr>
      </p:sp>
      <p:sp>
        <p:nvSpPr>
          <p:cNvPr id="16" name="Text 13"/>
          <p:cNvSpPr/>
          <p:nvPr/>
        </p:nvSpPr>
        <p:spPr>
          <a:xfrm>
            <a:off x="758242" y="3936764"/>
            <a:ext cx="42481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Notifications, not phone calls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242" y="4161383"/>
            <a:ext cx="42481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In-app alerts replace the back-and-forth that used to slow approvals.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8288" y="2673958"/>
            <a:ext cx="3248025" cy="1909762"/>
          </a:xfrm>
          <a:prstGeom prst="roundRect">
            <a:avLst>
              <a:gd name="adj" fmla="val 1805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76875" y="2803178"/>
            <a:ext cx="29908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77768" y="3008858"/>
            <a:ext cx="204787" cy="204787"/>
          </a:xfrm>
          <a:prstGeom prst="ellipse">
            <a:avLst/>
          </a:prstGeom>
          <a:solidFill>
            <a:srgbClr val="E88C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74420" y="3008858"/>
            <a:ext cx="131921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Borrower nominates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77768" y="3296766"/>
            <a:ext cx="204787" cy="204787"/>
          </a:xfrm>
          <a:prstGeom prst="ellipse">
            <a:avLst/>
          </a:prstGeom>
          <a:solidFill>
            <a:srgbClr val="E88C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75350" y="3296766"/>
            <a:ext cx="11906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Guarantor reviews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77768" y="3584674"/>
            <a:ext cx="204787" cy="204787"/>
          </a:xfrm>
          <a:prstGeom prst="ellipse">
            <a:avLst/>
          </a:prstGeom>
          <a:solidFill>
            <a:srgbClr val="2EB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74457" y="3584674"/>
            <a:ext cx="11334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Accept or decline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77768" y="3872582"/>
            <a:ext cx="204787" cy="204787"/>
          </a:xfrm>
          <a:prstGeom prst="ellipse">
            <a:avLst/>
          </a:prstGeom>
          <a:solidFill>
            <a:srgbClr val="2662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73787" y="3872582"/>
            <a:ext cx="8572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unlocks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76875" y="4078263"/>
            <a:ext cx="29908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000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state change is timestamped and stored in the loan’s audit log.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GUARANTORS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FASTER, CLEANER APPROVALS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EB88A"/>
          </a:solidFill>
          <a:ln/>
        </p:spPr>
      </p:sp>
      <p:sp>
        <p:nvSpPr>
          <p:cNvPr id="5" name="Text 3"/>
          <p:cNvSpPr/>
          <p:nvPr/>
        </p:nvSpPr>
        <p:spPr>
          <a:xfrm>
            <a:off x="1097124" y="617637"/>
            <a:ext cx="288131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06 · TRANSACTIONS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9473" y="926306"/>
            <a:ext cx="4138612" cy="971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spcBef>
                <a:spcPts val="810"/>
              </a:spcBef>
              <a:buNone/>
            </a:pPr>
            <a:r>
              <a:rPr lang="en-US" sz="4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ledger.</a:t>
            </a:r>
            <a:pPr algn="l" indent="0" marL="0">
              <a:lnSpc>
                <a:spcPts val="3830"/>
              </a:lnSpc>
              <a:buNone/>
            </a:pPr>
            <a:r>
              <a:rPr lang="en-US" sz="4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movement.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875836" y="1178868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FB58D">
              <a:alpha val="14902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332681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613459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0" name="Text 7"/>
          <p:cNvSpPr/>
          <p:nvPr/>
        </p:nvSpPr>
        <p:spPr>
          <a:xfrm>
            <a:off x="759396" y="2571266"/>
            <a:ext cx="3133725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Unified financial ledger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9396" y="2795885"/>
            <a:ext cx="31337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Deposits, withdrawals and repayments in one feed.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140236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3" name="Text 10"/>
          <p:cNvSpPr/>
          <p:nvPr/>
        </p:nvSpPr>
        <p:spPr>
          <a:xfrm>
            <a:off x="757610" y="3098043"/>
            <a:ext cx="2714625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trail by default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7610" y="3322662"/>
            <a:ext cx="27146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Actor, timestamp and source on every entry.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3667013"/>
            <a:ext cx="80962" cy="80962"/>
          </a:xfrm>
          <a:prstGeom prst="ellipse">
            <a:avLst/>
          </a:prstGeom>
          <a:solidFill>
            <a:srgbClr val="2EB88A"/>
          </a:solidFill>
          <a:ln/>
        </p:spPr>
      </p:sp>
      <p:sp>
        <p:nvSpPr>
          <p:cNvPr id="16" name="Text 13"/>
          <p:cNvSpPr/>
          <p:nvPr/>
        </p:nvSpPr>
        <p:spPr>
          <a:xfrm>
            <a:off x="758428" y="3624821"/>
            <a:ext cx="17526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Filter, find, reconcile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428" y="3849439"/>
            <a:ext cx="1752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member, by date, by type.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2488" y="2571750"/>
            <a:ext cx="3933825" cy="2057400"/>
          </a:xfrm>
          <a:prstGeom prst="roundRect">
            <a:avLst>
              <a:gd name="adj" fmla="val 155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2025" y="2679799"/>
            <a:ext cx="3714750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LEDGER</a:t>
            </a:r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72025" y="2935486"/>
            <a:ext cx="3714750" cy="390525"/>
          </a:xfrm>
          <a:prstGeom prst="rect">
            <a:avLst/>
          </a:prstGeom>
          <a:ln/>
        </p:spPr>
      </p:sp>
      <p:sp>
        <p:nvSpPr>
          <p:cNvPr id="21" name="Text 18"/>
          <p:cNvSpPr/>
          <p:nvPr/>
        </p:nvSpPr>
        <p:spPr>
          <a:xfrm>
            <a:off x="4769979" y="2936416"/>
            <a:ext cx="136683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Deposit · J. Wanjiru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69979" y="3107792"/>
            <a:ext cx="136683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 savings · 10:14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31262" y="2984004"/>
            <a:ext cx="657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+12,000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72025" y="3375496"/>
            <a:ext cx="3714750" cy="390525"/>
          </a:xfrm>
          <a:prstGeom prst="rect">
            <a:avLst/>
          </a:prstGeom>
          <a:ln/>
        </p:spPr>
      </p:sp>
      <p:sp>
        <p:nvSpPr>
          <p:cNvPr id="25" name="Text 22"/>
          <p:cNvSpPr/>
          <p:nvPr/>
        </p:nvSpPr>
        <p:spPr>
          <a:xfrm>
            <a:off x="4771913" y="3376426"/>
            <a:ext cx="14573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Repayment · M. Otieno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71913" y="3547802"/>
            <a:ext cx="14573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#1142 · 09:48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34660" y="3424014"/>
            <a:ext cx="5524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+8,500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71020" y="3816437"/>
            <a:ext cx="16478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Disbursement · F. Njoroge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71020" y="3987812"/>
            <a:ext cx="16478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#1148 · 08:30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31262" y="3864025"/>
            <a:ext cx="657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+50,000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SINGLE SOURCE OF TRUTH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2025" y="2935486"/>
            <a:ext cx="3714750" cy="3905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2025" y="3375496"/>
            <a:ext cx="371475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7979" y="617637"/>
            <a:ext cx="2890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07 · SHARE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9548" y="925711"/>
            <a:ext cx="4529138" cy="938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spcBef>
                <a:spcPts val="810"/>
              </a:spcBef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 equity,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tracked to the cent.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875836" y="1144339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298153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716299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0" name="Text 7"/>
          <p:cNvSpPr/>
          <p:nvPr/>
        </p:nvSpPr>
        <p:spPr>
          <a:xfrm>
            <a:off x="759916" y="2674107"/>
            <a:ext cx="440531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Equity by member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9916" y="2900139"/>
            <a:ext cx="440531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Shares purchased, transferred and held — visible per member, per period.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441911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3" name="Text 10"/>
          <p:cNvSpPr/>
          <p:nvPr/>
        </p:nvSpPr>
        <p:spPr>
          <a:xfrm>
            <a:off x="759842" y="3399718"/>
            <a:ext cx="382428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Dividend distribution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9842" y="3624337"/>
            <a:ext cx="382428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Calculated from holdings and posted in a single, auditable run.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3978957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6" name="Text 13"/>
          <p:cNvSpPr/>
          <p:nvPr/>
        </p:nvSpPr>
        <p:spPr>
          <a:xfrm>
            <a:off x="759284" y="3936764"/>
            <a:ext cx="404336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Statements on demand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9284" y="4161383"/>
            <a:ext cx="404336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 can see contributions and dividends in their own profile.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8288" y="2674144"/>
            <a:ext cx="3248025" cy="1852612"/>
          </a:xfrm>
          <a:prstGeom prst="roundRect">
            <a:avLst>
              <a:gd name="adj" fmla="val 1918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76875" y="2803178"/>
            <a:ext cx="29908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DIVIDEND RUN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76875" y="3107196"/>
            <a:ext cx="2990850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click</a:t>
            </a:r>
            <a:endParaRPr lang="en-US" sz="4300" dirty="0"/>
          </a:p>
        </p:txBody>
      </p:sp>
      <p:sp>
        <p:nvSpPr>
          <p:cNvPr id="21" name="Text 18"/>
          <p:cNvSpPr/>
          <p:nvPr/>
        </p:nvSpPr>
        <p:spPr>
          <a:xfrm>
            <a:off x="5476875" y="3717503"/>
            <a:ext cx="29908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486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declared rate to per-member allocations posted across the entire register.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76354" y="4285804"/>
            <a:ext cx="276225" cy="19050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23" name="Text 20"/>
          <p:cNvSpPr/>
          <p:nvPr/>
        </p:nvSpPr>
        <p:spPr>
          <a:xfrm>
            <a:off x="5842992" y="4197251"/>
            <a:ext cx="22188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Auditable end to end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 CAPITAL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EQUITY, TRACKED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7421" y="617637"/>
            <a:ext cx="22479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08 · REPORTS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841" y="925711"/>
            <a:ext cx="4048125" cy="938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spcBef>
                <a:spcPts val="810"/>
              </a:spcBef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Decisions backed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real numbers.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875836" y="1144339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298153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022" y="2570857"/>
            <a:ext cx="1614488" cy="423862"/>
          </a:xfrm>
          <a:prstGeom prst="roundRect">
            <a:avLst>
              <a:gd name="adj" fmla="val 523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172" y="2627188"/>
            <a:ext cx="1500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05172" y="2789560"/>
            <a:ext cx="1500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81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Roster &amp; status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12814" y="2570857"/>
            <a:ext cx="1614488" cy="423862"/>
          </a:xfrm>
          <a:prstGeom prst="roundRect">
            <a:avLst>
              <a:gd name="adj" fmla="val 523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69964" y="2627188"/>
            <a:ext cx="1500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269964" y="2789560"/>
            <a:ext cx="1500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81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Balances summary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022" y="3044354"/>
            <a:ext cx="1614488" cy="423862"/>
          </a:xfrm>
          <a:prstGeom prst="roundRect">
            <a:avLst>
              <a:gd name="adj" fmla="val 523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172" y="3100685"/>
            <a:ext cx="1500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05172" y="3263057"/>
            <a:ext cx="1500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81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Portfolio &amp; arrears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12814" y="3044354"/>
            <a:ext cx="1614488" cy="423862"/>
          </a:xfrm>
          <a:prstGeom prst="roundRect">
            <a:avLst>
              <a:gd name="adj" fmla="val 523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69964" y="3100685"/>
            <a:ext cx="1500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269964" y="3263057"/>
            <a:ext cx="1500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81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 stmts.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022" y="3517850"/>
            <a:ext cx="1614488" cy="423862"/>
          </a:xfrm>
          <a:prstGeom prst="roundRect">
            <a:avLst>
              <a:gd name="adj" fmla="val 523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172" y="3574182"/>
            <a:ext cx="1500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RISK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05172" y="3736553"/>
            <a:ext cx="1500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81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Dormant &amp; PAR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12814" y="3517850"/>
            <a:ext cx="1614488" cy="423862"/>
          </a:xfrm>
          <a:prstGeom prst="roundRect">
            <a:avLst>
              <a:gd name="adj" fmla="val 5236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9964" y="3574182"/>
            <a:ext cx="1500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TRAIL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269964" y="3736553"/>
            <a:ext cx="1500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81"/>
              </a:spcBef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9362" y="3992166"/>
            <a:ext cx="3276600" cy="409575"/>
          </a:xfrm>
          <a:prstGeom prst="roundRect">
            <a:avLst>
              <a:gd name="adj" fmla="val 5607"/>
            </a:avLst>
          </a:prstGeom>
          <a:solidFill>
            <a:srgbClr val="27B189">
              <a:alpha val="5098"/>
            </a:srgbClr>
          </a:solidFill>
          <a:ln w="4763">
            <a:solidFill>
              <a:srgbClr val="2EB98B">
                <a:alpha val="3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12" y="4049316"/>
            <a:ext cx="3086100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tenant: 371 members · UGX 899,889,012 · 100% repayment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955703" y="2570820"/>
            <a:ext cx="4638675" cy="2162175"/>
          </a:xfrm>
          <a:prstGeom prst="roundRect">
            <a:avLst>
              <a:gd name="adj" fmla="val 1207"/>
            </a:avLst>
          </a:prstGeom>
          <a:solidFill>
            <a:srgbClr val="F3F4F6"/>
          </a:solidFill>
          <a:ln w="4763">
            <a:solidFill>
              <a:srgbClr val="000A14">
                <a:alpha val="1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10471" y="2627188"/>
            <a:ext cx="4529138" cy="1524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408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REPORTS &amp; ANALYTICS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SCREEN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010471" y="2819214"/>
            <a:ext cx="4529138" cy="1857375"/>
          </a:xfrm>
          <a:prstGeom prst="roundRect">
            <a:avLst>
              <a:gd name="adj" fmla="val 1091"/>
            </a:avLst>
          </a:prstGeom>
          <a:ln w="4763">
            <a:solidFill>
              <a:srgbClr val="000A14">
                <a:alpha val="10196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234" y="2823976"/>
            <a:ext cx="4519613" cy="1847850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937336"/>
            <a:ext cx="8048625" cy="523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REPORTS · CAPTURED FROM THE RUNNING APP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 REPORT FAMILIES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E88C30"/>
          </a:solidFill>
          <a:ln/>
        </p:spPr>
      </p:sp>
      <p:sp>
        <p:nvSpPr>
          <p:cNvPr id="5" name="Text 3"/>
          <p:cNvSpPr/>
          <p:nvPr/>
        </p:nvSpPr>
        <p:spPr>
          <a:xfrm>
            <a:off x="1098240" y="617637"/>
            <a:ext cx="268128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09 · DATA IMPORT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767" y="925711"/>
            <a:ext cx="4891088" cy="938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spcBef>
                <a:spcPts val="810"/>
              </a:spcBef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Bring your records in,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type at a time.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875836" y="1144339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EB8D2F">
              <a:alpha val="14902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298153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585" y="2673511"/>
            <a:ext cx="1504950" cy="1171575"/>
          </a:xfrm>
          <a:prstGeom prst="roundRect">
            <a:avLst>
              <a:gd name="adj" fmla="val 3427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35" y="2772370"/>
            <a:ext cx="13144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 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835" y="2978534"/>
            <a:ext cx="13144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835" y="3180457"/>
            <a:ext cx="1314450" cy="566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member onboarding from CSV.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84536" y="2673511"/>
            <a:ext cx="1504950" cy="1171575"/>
          </a:xfrm>
          <a:prstGeom prst="roundRect">
            <a:avLst>
              <a:gd name="adj" fmla="val 3427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79786" y="2772370"/>
            <a:ext cx="13144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 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79786" y="3167100"/>
            <a:ext cx="13144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79786" y="3369990"/>
            <a:ext cx="13144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 openings and balances.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19488" y="2673511"/>
            <a:ext cx="1504950" cy="1171575"/>
          </a:xfrm>
          <a:prstGeom prst="roundRect">
            <a:avLst>
              <a:gd name="adj" fmla="val 3427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14738" y="2772370"/>
            <a:ext cx="13144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 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914738" y="3167100"/>
            <a:ext cx="13144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14738" y="3369990"/>
            <a:ext cx="13144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books with active balances.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54439" y="2673511"/>
            <a:ext cx="1504950" cy="1171575"/>
          </a:xfrm>
          <a:prstGeom prst="roundRect">
            <a:avLst>
              <a:gd name="adj" fmla="val 3427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49689" y="2772370"/>
            <a:ext cx="13144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 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49689" y="3167100"/>
            <a:ext cx="13144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Loan repayments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49689" y="3369990"/>
            <a:ext cx="13144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CSV repayment posting.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89391" y="2673511"/>
            <a:ext cx="1504950" cy="1171575"/>
          </a:xfrm>
          <a:prstGeom prst="roundRect">
            <a:avLst>
              <a:gd name="adj" fmla="val 3427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84641" y="2772370"/>
            <a:ext cx="13144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 05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184641" y="3167100"/>
            <a:ext cx="13144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savings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84641" y="3369990"/>
            <a:ext cx="13144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Mass deposit posting from payroll.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7688" y="3998937"/>
            <a:ext cx="8048625" cy="628650"/>
          </a:xfrm>
          <a:prstGeom prst="roundRect">
            <a:avLst>
              <a:gd name="adj" fmla="val 11901"/>
            </a:avLst>
          </a:prstGeom>
          <a:solidFill>
            <a:srgbClr val="EB8927">
              <a:alpha val="5098"/>
            </a:srgbClr>
          </a:solidFill>
          <a:ln w="4763">
            <a:solidFill>
              <a:srgbClr val="E78B30">
                <a:alpha val="25098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6927" y="4106317"/>
            <a:ext cx="34480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import is its own permission.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6927" y="4331122"/>
            <a:ext cx="34480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62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Grant a clerk “import savings” without giving them loans.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38838" y="4210869"/>
            <a:ext cx="16478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88C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GRANULAR RBAC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IMPORT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INDEPENDENT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708087"/>
            <a:ext cx="457200" cy="23812"/>
          </a:xfrm>
          <a:prstGeom prst="rect">
            <a:avLst/>
          </a:prstGeom>
          <a:solidFill>
            <a:srgbClr val="2662D9"/>
          </a:solidFill>
          <a:ln/>
        </p:spPr>
      </p:sp>
      <p:sp>
        <p:nvSpPr>
          <p:cNvPr id="5" name="Text 3"/>
          <p:cNvSpPr/>
          <p:nvPr/>
        </p:nvSpPr>
        <p:spPr>
          <a:xfrm>
            <a:off x="1096826" y="617637"/>
            <a:ext cx="301466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10 · ROLES &amp; ACCESS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7501" y="925711"/>
            <a:ext cx="4700588" cy="938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4"/>
              </a:lnSpc>
              <a:spcBef>
                <a:spcPts val="810"/>
              </a:spcBef>
              <a:buNone/>
            </a:pPr>
            <a:r>
              <a:rPr lang="en-US" sz="38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right people see</a:t>
            </a:r>
            <a:pPr algn="l" indent="0" marL="0">
              <a:lnSpc>
                <a:spcPts val="3694"/>
              </a:lnSpc>
              <a:buNone/>
            </a:pPr>
            <a:r>
              <a:rPr lang="en-US" sz="38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right things.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875836" y="1144339"/>
            <a:ext cx="719137" cy="719137"/>
          </a:xfrm>
          <a:prstGeom prst="roundRect">
            <a:avLst>
              <a:gd name="adj" fmla="val 14551"/>
            </a:avLst>
          </a:prstGeom>
          <a:solidFill>
            <a:srgbClr val="2762D8">
              <a:alpha val="10196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649" y="1298153"/>
            <a:ext cx="411435" cy="411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213" y="2716299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0" name="Text 7"/>
          <p:cNvSpPr/>
          <p:nvPr/>
        </p:nvSpPr>
        <p:spPr>
          <a:xfrm>
            <a:off x="759321" y="2674107"/>
            <a:ext cx="380523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Per-action permissions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9321" y="2898725"/>
            <a:ext cx="38052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Read, create, update, delete, execute — defined per resource.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9213" y="3253346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3" name="Text 10"/>
          <p:cNvSpPr/>
          <p:nvPr/>
        </p:nvSpPr>
        <p:spPr>
          <a:xfrm>
            <a:off x="759135" y="3211153"/>
            <a:ext cx="328136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roles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9135" y="3435772"/>
            <a:ext cx="328136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“branch officer” or “loan auditor” without code.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9213" y="3790392"/>
            <a:ext cx="80962" cy="80962"/>
          </a:xfrm>
          <a:prstGeom prst="ellipse">
            <a:avLst/>
          </a:prstGeom>
          <a:solidFill>
            <a:srgbClr val="2662D9"/>
          </a:solidFill>
          <a:ln/>
        </p:spPr>
      </p:sp>
      <p:sp>
        <p:nvSpPr>
          <p:cNvPr id="16" name="Text 13"/>
          <p:cNvSpPr/>
          <p:nvPr/>
        </p:nvSpPr>
        <p:spPr>
          <a:xfrm>
            <a:off x="758317" y="3748199"/>
            <a:ext cx="3376612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role-permission matrix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317" y="3972818"/>
            <a:ext cx="33766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 the boxes; the system enforces them everywhere.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8288" y="2674330"/>
            <a:ext cx="3248025" cy="1900238"/>
          </a:xfrm>
          <a:prstGeom prst="roundRect">
            <a:avLst>
              <a:gd name="adj" fmla="val 1824"/>
            </a:avLst>
          </a:prstGeom>
          <a:solidFill>
            <a:srgbClr val="F3F4F6"/>
          </a:solidFill>
          <a:ln w="4763">
            <a:solidFill>
              <a:srgbClr val="000014">
                <a:alpha val="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57825" y="2782639"/>
            <a:ext cx="3028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86"/>
              </a:spcAft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MATRIX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57825" y="3049116"/>
            <a:ext cx="3028950" cy="252412"/>
          </a:xfrm>
          <a:prstGeom prst="rect">
            <a:avLst/>
          </a:prstGeom>
          <a:ln/>
        </p:spPr>
      </p:sp>
      <p:sp>
        <p:nvSpPr>
          <p:cNvPr id="21" name="Text 18"/>
          <p:cNvSpPr/>
          <p:nvPr/>
        </p:nvSpPr>
        <p:spPr>
          <a:xfrm>
            <a:off x="5457565" y="3050009"/>
            <a:ext cx="12096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RESOURCE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68430" y="3050009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74086" y="3050009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TREAS.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78775" y="3050009"/>
            <a:ext cx="609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7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57825" y="3302124"/>
            <a:ext cx="3028950" cy="290513"/>
          </a:xfrm>
          <a:prstGeom prst="rect">
            <a:avLst/>
          </a:prstGeom>
          <a:ln/>
        </p:spPr>
      </p:sp>
      <p:sp>
        <p:nvSpPr>
          <p:cNvPr id="26" name="Text 23"/>
          <p:cNvSpPr/>
          <p:nvPr/>
        </p:nvSpPr>
        <p:spPr>
          <a:xfrm>
            <a:off x="5455741" y="3342605"/>
            <a:ext cx="12144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669844" y="3342605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276058" y="3342605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882235" y="3342605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57825" y="3594720"/>
            <a:ext cx="3028950" cy="290513"/>
          </a:xfrm>
          <a:prstGeom prst="rect">
            <a:avLst/>
          </a:prstGeom>
          <a:ln/>
        </p:spPr>
      </p:sp>
      <p:sp>
        <p:nvSpPr>
          <p:cNvPr id="31" name="Text 28"/>
          <p:cNvSpPr/>
          <p:nvPr/>
        </p:nvSpPr>
        <p:spPr>
          <a:xfrm>
            <a:off x="5455741" y="3635201"/>
            <a:ext cx="12144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 loan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69844" y="3635201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76058" y="3635201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882235" y="3635201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57825" y="3887316"/>
            <a:ext cx="3028950" cy="290513"/>
          </a:xfrm>
          <a:prstGeom prst="rect">
            <a:avLst/>
          </a:prstGeom>
          <a:ln/>
        </p:spPr>
      </p:sp>
      <p:sp>
        <p:nvSpPr>
          <p:cNvPr id="36" name="Text 33"/>
          <p:cNvSpPr/>
          <p:nvPr/>
        </p:nvSpPr>
        <p:spPr>
          <a:xfrm>
            <a:off x="5455741" y="3927797"/>
            <a:ext cx="12144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 savings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669844" y="3927797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276058" y="3927797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882235" y="3927797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55741" y="4220394"/>
            <a:ext cx="12144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 statement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669844" y="4220394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76058" y="4220394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882235" y="4220394"/>
            <a:ext cx="6048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ROLES &amp; ACCESS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FINE-GRAINED, BY DESIGN</a:t>
            </a:r>
            <a:endParaRPr lang="en-US" sz="100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7825" y="3049116"/>
            <a:ext cx="3028950" cy="252412"/>
          </a:xfrm>
          <a:prstGeom prst="rect">
            <a:avLst/>
          </a:prstGeom>
        </p:spPr>
      </p:pic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7825" y="3302124"/>
            <a:ext cx="3028950" cy="290513"/>
          </a:xfrm>
          <a:prstGeom prst="rect">
            <a:avLst/>
          </a:prstGeom>
        </p:spPr>
      </p:pic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7825" y="3594720"/>
            <a:ext cx="3028950" cy="290513"/>
          </a:xfrm>
          <a:prstGeom prst="rect">
            <a:avLst/>
          </a:prstGeom>
        </p:spPr>
      </p:pic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57825" y="3887316"/>
            <a:ext cx="302895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71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FAFA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580" y="810927"/>
            <a:ext cx="457200" cy="23812"/>
          </a:xfrm>
          <a:prstGeom prst="rect">
            <a:avLst/>
          </a:prstGeom>
          <a:solidFill>
            <a:srgbClr val="2EB88A"/>
          </a:solidFill>
          <a:ln/>
        </p:spPr>
      </p:sp>
      <p:sp>
        <p:nvSpPr>
          <p:cNvPr id="5" name="Text 3"/>
          <p:cNvSpPr/>
          <p:nvPr/>
        </p:nvSpPr>
        <p:spPr>
          <a:xfrm>
            <a:off x="1096491" y="720477"/>
            <a:ext cx="172878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FOR TRUST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134" y="1079153"/>
            <a:ext cx="4938712" cy="3433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4"/>
              </a:lnSpc>
              <a:spcBef>
                <a:spcPts val="1215"/>
              </a:spcBef>
              <a:buNone/>
            </a:pPr>
            <a:r>
              <a:rPr lang="en-US" sz="48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 trust the</a:t>
            </a:r>
            <a:pPr algn="l" indent="0" marL="0">
              <a:lnSpc>
                <a:spcPts val="4504"/>
              </a:lnSpc>
              <a:buNone/>
            </a:pPr>
            <a:r>
              <a:rPr lang="en-US" sz="48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SACCO. The SACCO</a:t>
            </a:r>
            <a:pPr algn="l" indent="0" marL="0">
              <a:lnSpc>
                <a:spcPts val="4504"/>
              </a:lnSpc>
              <a:buNone/>
            </a:pPr>
            <a:r>
              <a:rPr lang="en-US" sz="48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trusts the system.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852220" y="822796"/>
            <a:ext cx="2743200" cy="1095375"/>
          </a:xfrm>
          <a:prstGeom prst="roundRect">
            <a:avLst>
              <a:gd name="adj" fmla="val 4704"/>
            </a:avLst>
          </a:prstGeom>
          <a:solidFill>
            <a:srgbClr val="FFFFFF">
              <a:alpha val="3922"/>
            </a:srgbClr>
          </a:solidFill>
          <a:ln w="4763">
            <a:solidFill>
              <a:srgbClr val="F8F8F8">
                <a:alpha val="14902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901" y="941263"/>
            <a:ext cx="25098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68901" y="1197434"/>
            <a:ext cx="25098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405"/>
              </a:spcBef>
              <a:buNone/>
            </a:pPr>
            <a:r>
              <a:rPr lang="en-US" sz="12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change, on the record.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68901" y="1423467"/>
            <a:ext cx="250983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Actor, timestamp and before/after value for every sensitive action.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220" y="2029309"/>
            <a:ext cx="2743200" cy="1290638"/>
          </a:xfrm>
          <a:prstGeom prst="roundRect">
            <a:avLst>
              <a:gd name="adj" fmla="val 3388"/>
            </a:avLst>
          </a:prstGeom>
          <a:solidFill>
            <a:srgbClr val="FFFFFF">
              <a:alpha val="3922"/>
            </a:srgbClr>
          </a:solidFill>
          <a:ln w="4763">
            <a:solidFill>
              <a:srgbClr val="F8F8F8">
                <a:alpha val="14902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8901" y="2148260"/>
            <a:ext cx="25098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 ENFORCEMENT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68901" y="2403946"/>
            <a:ext cx="2509838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405"/>
              </a:spcBef>
              <a:buNone/>
            </a:pPr>
            <a:r>
              <a:rPr lang="en-US" sz="12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Permissions checked everywhere.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68901" y="2824758"/>
            <a:ext cx="250983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the API and the screen ask the same question before showing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220" y="3431084"/>
            <a:ext cx="2743200" cy="1095375"/>
          </a:xfrm>
          <a:prstGeom prst="roundRect">
            <a:avLst>
              <a:gd name="adj" fmla="val 4704"/>
            </a:avLst>
          </a:prstGeom>
          <a:solidFill>
            <a:srgbClr val="FFFFFF">
              <a:alpha val="3922"/>
            </a:srgbClr>
          </a:solidFill>
          <a:ln w="4763">
            <a:solidFill>
              <a:srgbClr val="F8F8F8">
                <a:alpha val="14902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8901" y="3549551"/>
            <a:ext cx="25098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EB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BACKUPS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8901" y="3805721"/>
            <a:ext cx="25098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405"/>
              </a:spcBef>
              <a:buNone/>
            </a:pPr>
            <a:r>
              <a:rPr lang="en-US" sz="1200" b="1" dirty="0">
                <a:solidFill>
                  <a:srgbClr val="F9F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Daily snapshots, kept safe.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8901" y="4031754"/>
            <a:ext cx="250983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43"/>
              </a:spcBef>
              <a:buNone/>
            </a:pPr>
            <a:r>
              <a:rPr lang="en-US" sz="1000" dirty="0">
                <a:solidFill>
                  <a:srgbClr val="F9F9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Recover from a mistake without losing the day’s work.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7688" y="4681091"/>
            <a:ext cx="8048625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FAFA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FAFA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QUIET FOUNDATION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93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208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15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27" y="1029146"/>
            <a:ext cx="719137" cy="7191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0628" y="1108025"/>
            <a:ext cx="21669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BIASHARA SACCO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450628" y="1312962"/>
            <a:ext cx="216693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18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Management system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7688" y="2263899"/>
            <a:ext cx="8048625" cy="1209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69"/>
              </a:lnSpc>
              <a:buNone/>
            </a:pPr>
            <a:r>
              <a:rPr lang="en-US" sz="5100" b="1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 to see Biashara</a:t>
            </a:r>
            <a:pPr algn="l" indent="0" marL="0">
              <a:lnSpc>
                <a:spcPts val="4769"/>
              </a:lnSpc>
              <a:buNone/>
            </a:pPr>
            <a:r>
              <a:rPr lang="en-US" sz="5100" b="1" dirty="0">
                <a:solidFill>
                  <a:srgbClr val="266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your SACCO?</a:t>
            </a:r>
            <a:endParaRPr lang="en-US" sz="5100" dirty="0"/>
          </a:p>
        </p:txBody>
      </p:sp>
      <p:sp>
        <p:nvSpPr>
          <p:cNvPr id="9" name="Text 5"/>
          <p:cNvSpPr/>
          <p:nvPr/>
        </p:nvSpPr>
        <p:spPr>
          <a:xfrm>
            <a:off x="548580" y="4022303"/>
            <a:ext cx="5029200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Members, savings, loans, guarantors, transactions, share capital, reports, imports and access — all in one trusted workspace.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957133" y="3980929"/>
            <a:ext cx="638175" cy="442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0408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0307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081699"/>
            <a:ext cx="9144000" cy="61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2026-05-03T11:33:46Z</dcterms:created>
  <dcterms:modified xsi:type="dcterms:W3CDTF">2026-05-03T11:33:46Z</dcterms:modified>
</cp:coreProperties>
</file>